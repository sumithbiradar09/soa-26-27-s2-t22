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3" r:id="rId6"/>
    <p:sldId id="905" r:id="rId7"/>
    <p:sldId id="902" r:id="rId8"/>
    <p:sldId id="258" r:id="rId9"/>
    <p:sldId id="259" r:id="rId10"/>
    <p:sldId id="260" r:id="rId11"/>
    <p:sldId id="9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0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609701"/>
              </p:ext>
            </p:extLst>
          </p:nvPr>
        </p:nvGraphicFramePr>
        <p:xfrm>
          <a:off x="7852095" y="4228051"/>
          <a:ext cx="4043226" cy="3047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43226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3047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SUMITH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YASHWANTH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DEEPAK</a:t>
                      </a: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2420030696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2420030779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2420090154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852095" y="4026420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147298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Venkateswari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Ketineni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b="1"/>
              <a:t>AI-Based Smart Bank Loan Comparison and Eligibility Recommendation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5187EB-C283-E66F-E91C-63AA9D3F8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753611"/>
              </p:ext>
            </p:extLst>
          </p:nvPr>
        </p:nvGraphicFramePr>
        <p:xfrm>
          <a:off x="1077686" y="1727527"/>
          <a:ext cx="9171694" cy="3749040"/>
        </p:xfrm>
        <a:graphic>
          <a:graphicData uri="http://schemas.openxmlformats.org/drawingml/2006/table">
            <a:tbl>
              <a:tblPr/>
              <a:tblGrid>
                <a:gridCol w="9171694">
                  <a:extLst>
                    <a:ext uri="{9D8B030D-6E8A-4147-A177-3AD203B41FA5}">
                      <a16:colId xmlns:a16="http://schemas.microsoft.com/office/drawing/2014/main" val="1088772472"/>
                    </a:ext>
                  </a:extLst>
                </a:gridCol>
              </a:tblGrid>
              <a:tr h="3470787">
                <a:tc>
                  <a:txBody>
                    <a:bodyPr/>
                    <a:lstStyle/>
                    <a:p>
                      <a:pPr marL="457200" indent="-457200" algn="l" rtl="0" fontAlgn="b">
                        <a:buFont typeface="Arial" panose="020B0604020202020204" pitchFamily="34" charset="0"/>
                        <a:buChar char="•"/>
                      </a:pPr>
                      <a:endParaRPr lang="en-US" sz="3200" b="1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285750" indent="-2857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</a:rPr>
                        <a:t>Choosing the best bank loan is a challenging task due to varying interest rates, eligibility criteria, loan amount, and repayment terms offered by different banks.</a:t>
                      </a:r>
                    </a:p>
                    <a:p>
                      <a:pPr marL="285750" indent="-2857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</a:rPr>
                        <a:t>Customers find it difficult to compare multiple banks’ offers and choose the best-suited one according to their needs.</a:t>
                      </a:r>
                    </a:p>
                    <a:p>
                      <a:pPr marL="285750" indent="-2857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</a:rPr>
                        <a:t>Most of the existing loan portals provide basic information about the banks and their schemes, but they lack a feature that could suggest the best deal according to the customer’s financial status.</a:t>
                      </a:r>
                    </a:p>
                    <a:p>
                      <a:pPr marL="285750" indent="-2857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</a:rPr>
                        <a:t>In addition, customers are often uncertain about their eligibility, monthly installment amount, and repayment capacity. Hence, a smart AI system is needed to analyze customer’s details, compare and suggest the best deal, and predict the eligibility and repayment capacity of the customer</a:t>
                      </a:r>
                      <a:r>
                        <a:rPr lang="en-US" sz="3200" b="1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170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55D365-C14B-C02F-1E6D-5165D67C2468}"/>
              </a:ext>
            </a:extLst>
          </p:cNvPr>
          <p:cNvSpPr txBox="1"/>
          <p:nvPr/>
        </p:nvSpPr>
        <p:spPr>
          <a:xfrm>
            <a:off x="619432" y="1356852"/>
            <a:ext cx="1081548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Analyze the user’s financial status based on the income, credit score, job status, and existing debts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Compare the best loan offers from different banks in terms of interest rates, repayment period, EMI, and eligibility criteria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Predict the user’s eligibility for a loan using artificial intelligence technology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Helps recommend the best suitable loan for the user depending on their financial status and requirements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Calculate the EMI and the amount payable for the recommended loan options so that the user gets an idea of the amount to be repaid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Saves time and energy by giving out the best personalized loan recommendation in one place.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DATASETS USED FOR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1. Loan Approval Prediction Dataset (Kaggle / public ML dataset)</a:t>
            </a:r>
            <a:br/>
            <a:r>
              <a:rPr sz="1500" b="0"/>
              <a:t>   • Applicant income, co-applicant income, loan amount, loan term, credit history, property area, education, employment status and loan status.</a:t>
            </a:r>
            <a:br/>
            <a:r>
              <a:rPr sz="1500" b="0"/>
              <a:t>   • Use: eligibility / approval prediction model.</a:t>
            </a:r>
            <a:br/>
            <a:br/>
            <a:r>
              <a:rPr sz="1500" b="0"/>
              <a:t>2. Home Loan / Mortgage Loan Dataset (Kaggle / public financial dataset)</a:t>
            </a:r>
            <a:br/>
            <a:r>
              <a:rPr sz="1500" b="0"/>
              <a:t>   • Income, credit score, debt-to-income ratio, loan amount, interest rate, tenure and repayment-related fields.</a:t>
            </a:r>
            <a:br/>
            <a:r>
              <a:rPr sz="1500" b="0"/>
              <a:t>   • Use: risk, affordability and repayment-capacity analysis.</a:t>
            </a:r>
            <a:br/>
            <a:br/>
            <a:r>
              <a:rPr sz="1500" b="0"/>
              <a:t>3. Bank Loan Product Dataset (project-collected / synthetic if live bank data is unavailable)</a:t>
            </a:r>
            <a:br/>
            <a:r>
              <a:rPr sz="1500" b="0"/>
              <a:t>   • Bank name, loan type, interest rate, processing fee, minimum income, maximum tenure, loan limit and eligibility rules.</a:t>
            </a:r>
            <a:br/>
            <a:r>
              <a:rPr sz="1500" b="0"/>
              <a:t>   • Use: multi-bank loan comparison and recommendation.</a:t>
            </a:r>
            <a:br/>
            <a:br/>
            <a:r>
              <a:rPr sz="1500" b="0"/>
              <a:t>Data Preparation: remove missing/duplicate records, encode categorical variables, scale numerical features where required, and split data into training/testing 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7292126"/>
              </p:ext>
            </p:extLst>
          </p:nvPr>
        </p:nvGraphicFramePr>
        <p:xfrm>
          <a:off x="309388" y="659747"/>
          <a:ext cx="11341836" cy="561865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6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2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0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91658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548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479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/>
                        <a:t>Sachan et al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 Explainable AI Decision-Support-System to Automate Loan Underwriting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• Belief Rule Base (BRB)  Supervised learning using credit data 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dirty="0"/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• Explainable AI for loan decisions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Automates loan underwriting and approval decisions.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Provides explanations for accepted/rejected applications.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Improves transparency in automated lending.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Focuses mainly on loan underwriting rather than comparing multiple bank loan products. 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Future work can integrate personalized loan recommendations and multiple financial institutions.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54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Gawande et al. [4]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An Explainable Ensemble Learning Framework for Transparent and Accurate Loan Approval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• Random Forest and </a:t>
                      </a:r>
                      <a:r>
                        <a:rPr lang="en-US" sz="1400" b="0" dirty="0" err="1"/>
                        <a:t>XGBoost</a:t>
                      </a:r>
                      <a:r>
                        <a:rPr lang="en-US" sz="1400" b="0" dirty="0"/>
                        <a:t> • Soft-voting ensemble • SHAP and LIME • Fairness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• Ensemble ML can provide accurate loan approval prediction. • SHAP and LIME improve transparency. • The framework also considers fairness in automated loan decisions.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• Primarily predicts loan approval. • Does not focus on personalized comparison of loan schemes from different banks.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912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Yamuna Devi et al. [5]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 err="1"/>
                        <a:t>LoanLens</a:t>
                      </a:r>
                      <a:r>
                        <a:rPr lang="en-US" sz="1400" b="0" dirty="0"/>
                        <a:t>: A </a:t>
                      </a:r>
                      <a:r>
                        <a:rPr lang="en-US" sz="1400" b="0" dirty="0" err="1"/>
                        <a:t>Multimodel</a:t>
                      </a:r>
                      <a:r>
                        <a:rPr lang="en-US" sz="1400" b="0" dirty="0"/>
                        <a:t> AI Architecture for Secure and Transparent Loan Decisioning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• Logistic Regression, Random Forest and </a:t>
                      </a:r>
                      <a:r>
                        <a:rPr lang="en-US" sz="1400" b="0" dirty="0" err="1"/>
                        <a:t>XGBoost</a:t>
                      </a:r>
                      <a:r>
                        <a:rPr lang="en-US" sz="1400" b="0" dirty="0"/>
                        <a:t> • Feature engineering • Loan approval prediction • Personalized loan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• Combines loan recommendation and approval prediction. • Provides personalized recommendations based on applicant profiles. • Demonstrates the potential of AI for intelligent lending systems.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• Further improvement can include more banks, real-time loan data, better eligibility prediction, EMI comparison and user-friendly recommendations.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20-Aug-2026</a:t>
            </a:r>
            <a:endParaRPr lang="en-IN" b="1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3112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4939FC-D456-D8A1-D17D-9FA256700A8C}"/>
              </a:ext>
            </a:extLst>
          </p:cNvPr>
          <p:cNvSpPr txBox="1"/>
          <p:nvPr/>
        </p:nvSpPr>
        <p:spPr>
          <a:xfrm>
            <a:off x="506848" y="1396181"/>
            <a:ext cx="109226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Existing loan platforms mainly provide </a:t>
            </a:r>
            <a:r>
              <a:rPr lang="en-US" b="1" dirty="0"/>
              <a:t>basic loan information and comparisons</a:t>
            </a:r>
            <a:r>
              <a:rPr lang="en-US" dirty="0"/>
              <a:t> but lack personalized recommendations.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Most existing systems focus on </a:t>
            </a:r>
            <a:r>
              <a:rPr lang="en-US" b="1" dirty="0"/>
              <a:t>loan approval or eligibility prediction</a:t>
            </a:r>
            <a:r>
              <a:rPr lang="en-US" dirty="0"/>
              <a:t> rather than comparing multiple bank loan options.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Users often do not get a </a:t>
            </a:r>
            <a:r>
              <a:rPr lang="en-US" b="1" dirty="0"/>
              <a:t>single platform</a:t>
            </a:r>
            <a:r>
              <a:rPr lang="en-US" dirty="0"/>
              <a:t> to compare interest rates, EMI, tenure, loan amount, and eligibility.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Traditional systems use </a:t>
            </a:r>
            <a:r>
              <a:rPr lang="en-US" b="1" dirty="0"/>
              <a:t>fixed rule-based criteria</a:t>
            </a:r>
            <a:r>
              <a:rPr lang="en-US" dirty="0"/>
              <a:t> and may not effectively analyze the complete financial profile of a user.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Limited systems provide </a:t>
            </a:r>
            <a:r>
              <a:rPr lang="en-US" b="1" dirty="0"/>
              <a:t>AI-based personalized loan recommendations</a:t>
            </a:r>
            <a:r>
              <a:rPr lang="en-US" dirty="0"/>
              <a:t> based on income, credit score, expenses, and repayment capacity.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There is a need for an </a:t>
            </a:r>
            <a:r>
              <a:rPr lang="en-US" b="1" dirty="0"/>
              <a:t>integrated AI system</a:t>
            </a:r>
            <a:r>
              <a:rPr lang="en-US" dirty="0"/>
              <a:t> that combines </a:t>
            </a:r>
            <a:r>
              <a:rPr lang="en-US" b="1" dirty="0"/>
              <a:t>eligibility prediction, loan comparison, EMI estimation, and personalized recommendations</a:t>
            </a:r>
            <a:r>
              <a:rPr lang="en-US" dirty="0"/>
              <a:t> in one platform.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59" y="353789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6A452D-4EC3-655A-A53B-FEAA8A04D7FA}"/>
              </a:ext>
            </a:extLst>
          </p:cNvPr>
          <p:cNvSpPr txBox="1"/>
          <p:nvPr/>
        </p:nvSpPr>
        <p:spPr>
          <a:xfrm>
            <a:off x="786632" y="1225689"/>
            <a:ext cx="106187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AI-Based Personalization: Analyzes the user's income, credit score, expenses, employment, and financial profile to provide personalized loan recommendations.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Smart Loan Comparison: Compares multiple bank loans based on interest rate, EMI, tenure, processing fees, and eligibility.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Eligibility Prediction: Uses AI/ML to predict the user's probability of loan approval before applying.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Best Loan Recommendation: Ranks available loans and identifies the most suitable option based on the user's requirements and repayment capacity.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EMI &amp; Repayment Analysis: Estimates monthly EMI and total repayment to help users understand the financial impact.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Explainable Recommendations: Provides reasons for why a particular loan is recommended, making the AI decision transparent and understandable.</a:t>
            </a:r>
          </a:p>
          <a:p>
            <a:pPr lvl="0"/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One-Platform Solution: Integrates eligibility checking, loan comparison, prediction, and recommendation into a single user-friendly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822410" y="475335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273243" y="1311272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TIMELINE CHART FOR EACH PHASE OF YOUR PROJECT SHOULD BE THERE AFTER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CA8B2D-2536-9279-43DC-40E321857567}"/>
              </a:ext>
            </a:extLst>
          </p:cNvPr>
          <p:cNvSpPr txBox="1"/>
          <p:nvPr/>
        </p:nvSpPr>
        <p:spPr>
          <a:xfrm>
            <a:off x="1562616" y="1871943"/>
            <a:ext cx="95372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Feasibility:</a:t>
            </a:r>
          </a:p>
          <a:p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Technical Feasibility:</a:t>
            </a:r>
            <a:r>
              <a:rPr lang="en-US" dirty="0"/>
              <a:t> The system can be developed using AI/ML, Python, a web framework, and a database to process user financial data and loan information.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Economic Feasibility:</a:t>
            </a:r>
            <a:r>
              <a:rPr lang="en-US" dirty="0"/>
              <a:t> The project can be developed using open-source tools and datasets, reducing development cost.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Operational Feasibility:</a:t>
            </a:r>
            <a:r>
              <a:rPr lang="en-US" dirty="0"/>
              <a:t> The system will provide a simple interface where users can enter financial details and receive loan eligibility and recommendations.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 Feasibility:</a:t>
            </a:r>
            <a:r>
              <a:rPr lang="en-US" dirty="0"/>
              <a:t> AI models can analyze user profiles and generate recommendations within a short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Scalability:</a:t>
            </a:r>
            <a:r>
              <a:rPr lang="en-US" dirty="0"/>
              <a:t> The system can be extended by adding more banks, loan types, and real-time interest-rate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3A820-EEB8-28F8-3950-1AD5309AD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243"/>
          </a:xfrm>
        </p:spPr>
        <p:txBody>
          <a:bodyPr/>
          <a:lstStyle/>
          <a:p>
            <a:pPr algn="ctr"/>
            <a:r>
              <a:rPr lang="en-US" b="1" dirty="0"/>
              <a:t>Project 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1DE7-29D8-D8F1-8E44-EA4F8FC13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US" b="1" dirty="0"/>
              <a:t>Requirement Analysis</a:t>
            </a:r>
            <a:r>
              <a:rPr lang="en-US" dirty="0"/>
              <a:t> – Identify user requirements, loan parameters, and system objectives. 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Data Collection &amp; Preparation</a:t>
            </a:r>
            <a:r>
              <a:rPr lang="en-US" dirty="0"/>
              <a:t> – Collect loan and financial datasets and perform data cleaning and preprocessing. 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System Design</a:t>
            </a:r>
            <a:r>
              <a:rPr lang="en-US" dirty="0"/>
              <a:t> – Design the database, user interface, system architecture, and recommendation workflow. 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AI/ML Model Development</a:t>
            </a:r>
            <a:r>
              <a:rPr lang="en-US" dirty="0"/>
              <a:t> – Develop and train the loan eligibility prediction model. 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Loan Comparison &amp; Recommendation</a:t>
            </a:r>
            <a:r>
              <a:rPr lang="en-US" dirty="0"/>
              <a:t> – Implement loan comparison, EMI calculation, eligibility checking, and recommendation features. 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Integration &amp; Development</a:t>
            </a:r>
            <a:r>
              <a:rPr lang="en-US" dirty="0"/>
              <a:t> – Integrate the AI model with the application and database. 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Testing &amp; Validation</a:t>
            </a:r>
            <a:r>
              <a:rPr lang="en-US" dirty="0"/>
              <a:t> – Test accuracy, functionality, usability, and system performance. 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Deployment &amp; Documentation</a:t>
            </a:r>
            <a:r>
              <a:rPr lang="en-US" dirty="0"/>
              <a:t> – Deploy the system and prepare project documentation and final presentation.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163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1308</Words>
  <Application>Microsoft Office PowerPoint</Application>
  <PresentationFormat>Widescreen</PresentationFormat>
  <Paragraphs>147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sumith Biradar</cp:lastModifiedBy>
  <cp:revision>34</cp:revision>
  <dcterms:created xsi:type="dcterms:W3CDTF">2026-08-08T06:33:56Z</dcterms:created>
  <dcterms:modified xsi:type="dcterms:W3CDTF">2026-09-28T10:17:35Z</dcterms:modified>
</cp:coreProperties>
</file>